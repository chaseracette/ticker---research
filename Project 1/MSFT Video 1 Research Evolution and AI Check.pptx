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58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traces how the Microsoft research evolved from a filing-based screen in Edition A to a valuation-informed conclusion in Edition B. USD, financial-statement amounts in millions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D2B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26220"/>
            <a:ext cx="10566400" cy="421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D2B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26220"/>
            <a:ext cx="10566400" cy="421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9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 · RESEARCH EVOLUTION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59066"/>
            <a:ext cx="10883392" cy="125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Microsoft Corporation</a:t>
            </a:r>
            <a:endParaRPr lang="en-US" sz="4400" dirty="0"/>
          </a:p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(MSFT)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5915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A baseline to Edition B valuation 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1249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E89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Recommendation: Watch / Defer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58800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Chase Racette  ·  Edition A prepared Sep 1, 2026 (frozen in commit 861e227)  ·  Edition B evidence through Sep 29, 2026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coursework only. Not investment advice.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A · ORIGINAL VIEW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Worth researching, not yet investable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5175250" cy="1945217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033" y="2084454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was worth researching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8503" y="2414654"/>
            <a:ext cx="471999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cloud and Azure growth (41%)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commercial revenue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remaining performance obligations: $678bn commercial RPO, up 84%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1829395"/>
            <a:ext cx="5175250" cy="1945217"/>
          </a:xfrm>
          <a:prstGeom prst="roundRect">
            <a:avLst>
              <a:gd name="adj" fmla="val 5060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55833" y="2084454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352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was not yet a recommendation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3303" y="2414654"/>
            <a:ext cx="471999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valuation range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market-price comparison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model of how AI infrastructure spending would affect cash flow and margins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9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 QUESTION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32520"/>
            <a:ext cx="981075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0" i="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Would the large AI and data-center investment turn into durable cash flow and per-share value, or keep pressure on margins and free cash flow?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A-TO-B CHANGE RECORD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Same recommendation, different reason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26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ADDED AFTER EDITION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41141"/>
            <a:ext cx="2032000" cy="701014"/>
          </a:xfrm>
          <a:prstGeom prst="roundRect">
            <a:avLst>
              <a:gd name="adj" fmla="val 10870"/>
            </a:avLst>
          </a:prstGeom>
          <a:solidFill>
            <a:srgbClr val="EAEEF3"/>
          </a:solidFill>
          <a:ln/>
        </p:spPr>
        <p:txBody>
          <a:bodyPr wrap="square" lIns="130082" tIns="130082" rIns="78266" bIns="1300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Five-year FCFF DCF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6400" y="2141141"/>
            <a:ext cx="2032000" cy="701014"/>
          </a:xfrm>
          <a:prstGeom prst="roundRect">
            <a:avLst>
              <a:gd name="adj" fmla="val 10870"/>
            </a:avLst>
          </a:prstGeom>
          <a:solidFill>
            <a:srgbClr val="EAEEF3"/>
          </a:solidFill>
          <a:ln/>
        </p:spPr>
        <p:txBody>
          <a:bodyPr wrap="square" lIns="130082" tIns="130082" rIns="78266" bIns="1300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 DCF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80000" y="2141141"/>
            <a:ext cx="2032000" cy="701014"/>
          </a:xfrm>
          <a:prstGeom prst="roundRect">
            <a:avLst>
              <a:gd name="adj" fmla="val 10870"/>
            </a:avLst>
          </a:prstGeom>
          <a:solidFill>
            <a:srgbClr val="EAEEF3"/>
          </a:solidFill>
          <a:ln/>
        </p:spPr>
        <p:txBody>
          <a:bodyPr wrap="square" lIns="130082" tIns="130082" rIns="78266" bIns="1300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P/E comparison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13600" y="2141141"/>
            <a:ext cx="2032000" cy="701014"/>
          </a:xfrm>
          <a:prstGeom prst="roundRect">
            <a:avLst>
              <a:gd name="adj" fmla="val 10870"/>
            </a:avLst>
          </a:prstGeom>
          <a:solidFill>
            <a:srgbClr val="EAEEF3"/>
          </a:solidFill>
          <a:ln/>
        </p:spPr>
        <p:txBody>
          <a:bodyPr wrap="square" lIns="130082" tIns="130082" rIns="78266" bIns="1300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Five-year pro-forma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47200" y="2141141"/>
            <a:ext cx="2032000" cy="701014"/>
          </a:xfrm>
          <a:prstGeom prst="roundRect">
            <a:avLst>
              <a:gd name="adj" fmla="val 10870"/>
            </a:avLst>
          </a:prstGeom>
          <a:solidFill>
            <a:srgbClr val="EAEEF3"/>
          </a:solidFill>
          <a:ln/>
        </p:spPr>
        <p:txBody>
          <a:bodyPr wrap="square" lIns="130082" tIns="130082" rIns="78266" bIns="10468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One-at-a-time sensitivity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296709"/>
            <a:ext cx="4811183" cy="1392767"/>
          </a:xfrm>
          <a:prstGeom prst="roundRect">
            <a:avLst>
              <a:gd name="adj" fmla="val 7067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1033" y="3551768"/>
            <a:ext cx="44300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A: Watch / Defer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1033" y="3881968"/>
            <a:ext cx="443009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Deferring because the analysis was </a:t>
            </a: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 complete</a:t>
            </a: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pic>
        <p:nvPicPr>
          <p:cNvPr id="13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33533" y="3815293"/>
            <a:ext cx="508000" cy="355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51084" y="3153305"/>
            <a:ext cx="4821767" cy="1679575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11434" y="3413655"/>
            <a:ext cx="44300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B: Watch / Defer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11434" y="3743855"/>
            <a:ext cx="4430099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Deferring because the valuation is </a:t>
            </a: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on capex normalization and cash-flow conversion</a:t>
            </a: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CHECK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How I used AI tools, and how I checked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3195638" cy="2238375"/>
          </a:xfrm>
          <a:prstGeom prst="roundRect">
            <a:avLst>
              <a:gd name="adj" fmla="val 4397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033" y="2084456"/>
            <a:ext cx="2766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8503" y="2414656"/>
            <a:ext cx="2680997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Pulled and organized information from Microsoft's 10-Ks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Helped solve formulas used in the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21163" y="1829395"/>
            <a:ext cx="3195638" cy="2238375"/>
          </a:xfrm>
          <a:prstGeom prst="roundRect">
            <a:avLst>
              <a:gd name="adj" fmla="val 4397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76221" y="2084456"/>
            <a:ext cx="2766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Antigravity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691" y="2414656"/>
            <a:ext cx="268099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second study partner for clarification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9525" y="1832570"/>
            <a:ext cx="3743325" cy="2232025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A3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89875" y="2092920"/>
            <a:ext cx="33193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352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tool was a data source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67345" y="2423120"/>
            <a:ext cx="3234214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reported inputs against the FY2026 10-K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dates and units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the accounting and sensitivity logic in the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EVIDENCE POINT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would change the call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26220"/>
            <a:ext cx="3386667" cy="920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</p:spPr>
        <p:txBody>
          <a:bodyPr wrap="square" lIns="218982" tIns="180882" rIns="92617" bIns="15548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AI-infrastructure capex as a % of revenue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1826220"/>
            <a:ext cx="3386667" cy="920750"/>
          </a:xfrm>
          <a:custGeom>
            <a:avLst/>
            <a:gdLst/>
            <a:ahLst/>
            <a:cxnLst/>
            <a:rect l="l" t="t" r="r" b="b"/>
            <a:pathLst>
              <a:path w="3386667" h="920750">
                <a:moveTo>
                  <a:pt x="76200" y="920750"/>
                </a:moveTo>
                <a:lnTo>
                  <a:pt x="76200" y="9207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844550"/>
                </a:lnTo>
                <a:arcTo wR="38100" hR="76200" stAng="10800000" swAng="-5400000"/>
                <a:close/>
              </a:path>
            </a:pathLst>
          </a:custGeom>
          <a:solidFill>
            <a:srgbClr val="2F6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02667" y="1826220"/>
            <a:ext cx="3386667" cy="920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</p:spPr>
        <p:txBody>
          <a:bodyPr wrap="square" lIns="218982" tIns="180882" rIns="92617" bIns="18088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growth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67" y="1826220"/>
            <a:ext cx="3386667" cy="920750"/>
          </a:xfrm>
          <a:custGeom>
            <a:avLst/>
            <a:gdLst/>
            <a:ahLst/>
            <a:cxnLst/>
            <a:rect l="l" t="t" r="r" b="b"/>
            <a:pathLst>
              <a:path w="3386667" h="920750">
                <a:moveTo>
                  <a:pt x="76200" y="920750"/>
                </a:moveTo>
                <a:lnTo>
                  <a:pt x="76200" y="9207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844550"/>
                </a:lnTo>
                <a:arcTo wR="38100" hR="76200" stAng="10800000" swAng="-5400000"/>
                <a:close/>
              </a:path>
            </a:pathLst>
          </a:custGeom>
          <a:solidFill>
            <a:srgbClr val="2F6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92534" y="1826220"/>
            <a:ext cx="3386667" cy="92075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</p:spPr>
        <p:txBody>
          <a:bodyPr wrap="square" lIns="218982" tIns="180882" rIns="92617" bIns="18088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Cloud-margin recovery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534" y="1826220"/>
            <a:ext cx="3386667" cy="920750"/>
          </a:xfrm>
          <a:custGeom>
            <a:avLst/>
            <a:gdLst/>
            <a:ahLst/>
            <a:cxnLst/>
            <a:rect l="l" t="t" r="r" b="b"/>
            <a:pathLst>
              <a:path w="3386667" h="920750">
                <a:moveTo>
                  <a:pt x="76200" y="920750"/>
                </a:moveTo>
                <a:lnTo>
                  <a:pt x="76200" y="9207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844550"/>
                </a:lnTo>
                <a:arcTo wR="38100" hR="76200" stAng="10800000" swAng="-5400000"/>
                <a:close/>
              </a:path>
            </a:pathLst>
          </a:custGeom>
          <a:solidFill>
            <a:srgbClr val="2F6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2800" y="305177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If capex can normalize without weakening those metrics, I would reconsider the </a:t>
            </a:r>
            <a:r>
              <a:rPr lang="en-US" sz="2000" b="1" dirty="0">
                <a:solidFill>
                  <a:srgbClr val="A3521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Watch / Defer</a:t>
            </a:r>
            <a:r>
              <a:rPr lang="en-US" sz="200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call.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SFT Video 1: Research Evolution and AI Check">
  <a:themeElements>
    <a:clrScheme name="MSFT Video 1: Research Evolution and AI Check">
      <a:dk1>
        <a:srgbClr val="1D2B3A"/>
      </a:dk1>
      <a:lt1>
        <a:srgbClr val="F6F4EF"/>
      </a:lt1>
      <a:dk2>
        <a:srgbClr val="535D67"/>
      </a:dk2>
      <a:lt2>
        <a:srgbClr val="E0E0DD"/>
      </a:lt2>
      <a:accent1>
        <a:srgbClr val="2F6DB5"/>
      </a:accent1>
      <a:accent2>
        <a:srgbClr val="E8954F"/>
      </a:accent2>
      <a:accent3>
        <a:srgbClr val="A3521A"/>
      </a:accent3>
      <a:accent4>
        <a:srgbClr val="5B6673"/>
      </a:accent4>
      <a:accent5>
        <a:srgbClr val="C9D3DF"/>
      </a:accent5>
      <a:accent6>
        <a:srgbClr val="9AA0A6"/>
      </a:accent6>
      <a:hlink>
        <a:srgbClr val="0563C1"/>
      </a:hlink>
      <a:folHlink>
        <a:srgbClr val="954F72"/>
      </a:folHlink>
    </a:clrScheme>
    <a:fontScheme name="MSFT Video 1: Research Evolution and AI Check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Widescreen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Inter</vt:lpstr>
      <vt:lpstr>Source Serif 4</vt:lpstr>
      <vt:lpstr>MSFT Video 1: Research Evolution and AI Check</vt:lpstr>
      <vt:lpstr>Microsoft Corporation (MSFT)</vt:lpstr>
      <vt:lpstr>Worth researching, not yet investable</vt:lpstr>
      <vt:lpstr>Would the large AI and data-center investment turn into durable cash flow and per-share value, or keep pressure on margins and free cash flow?</vt:lpstr>
      <vt:lpstr>Same recommendation, different reason</vt:lpstr>
      <vt:lpstr>How I used AI tools, and how I checked them</vt:lpstr>
      <vt:lpstr>What would change the call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MSFT Video 1: Research Evolution and AI Check</dc:title>
  <dc:subject/>
  <dc:creator>Chase Racette</dc:creator>
  <cp:lastModifiedBy>Chase Racette</cp:lastModifiedBy>
  <cp:revision>1</cp:revision>
  <dcterms:created xsi:type="dcterms:W3CDTF">2026-10-20T00:53:44Z</dcterms:created>
  <dcterms:modified xsi:type="dcterms:W3CDTF">2026-10-20T00:55:05Z</dcterms:modified>
</cp:coreProperties>
</file>