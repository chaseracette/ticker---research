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45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traces how the Microsoft research evolved from a filing-based screen in Edition A to a valuation-informed conclusion in Edition B. USD, financial-statement amounts in millions unless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valuation supports a conditional view, not a point estimate or a recommendation to buy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Edition A prepared September 1, 2026 and first Git-frozen September 3, 2026 in commit 861e227.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Assumptions: the 10-K was the right primary baseline as of Sep 1, 2026. Debt started at the June 30, 2026 carrying amount, subject to review of other debt-like items. Cash needed an operating-cash assessment before being added to equity value. Azure growth and RPO were useful indicators but did not prove durable margin, free-cash-flow, or valuation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each changed: the stance basis moved from an incomplete research screen to a valuation conclusion with stated conditions. Intrinsic value came from a five-year FCFF forecast, enterprise-to-equity bridge, and WACC/terminal-growth sensitivity. Peers were selected and qualified on recurring enterprise/cloud economics and annual GAAP EPS. Capex was built through PP&amp;E, depreciation, cash, FCFE and value in the linked model. The open question became observable monitoring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AI-assisted drafting is separately disclosed in the project validation record. Source facts and calculations should be checked against the filing, committed code, and executed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facts most likely to change the valuation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D2B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26220"/>
            <a:ext cx="10566400" cy="421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D2B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26220"/>
            <a:ext cx="10566400" cy="421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89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 · RESEARCH EVOLUTION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25766"/>
            <a:ext cx="10883392" cy="1254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Microsoft Corporation</a:t>
            </a:r>
            <a:endParaRPr lang="en-US" sz="4400" dirty="0"/>
          </a:p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(MSFT)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85822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A baseline to Edition B valuation conclusion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5588000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Chase Racette  ·  Edition A prepared Sep 1, 2026 (frozen in commit 861e227)  ·  Edition B evidence through Sep 29, 2026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coursework only. Not investment advice.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POSITION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Watch / defer, now backed by valuation evidence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2901950" cy="140163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1033" y="2084454"/>
            <a:ext cx="24635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6DB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$541.74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71033" y="2579754"/>
            <a:ext cx="2463588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FCFF DCF value per diluted share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27475" y="1829395"/>
            <a:ext cx="4337050" cy="140163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82533" y="2084454"/>
            <a:ext cx="3941741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6DB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$435.11–$556.30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82533" y="2579754"/>
            <a:ext cx="3941741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P/E implied range, Sep 1, 2026 prices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74075" y="1829395"/>
            <a:ext cx="2901950" cy="1401630"/>
          </a:xfrm>
          <a:prstGeom prst="roundRect">
            <a:avLst>
              <a:gd name="adj" fmla="val 7022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29134" y="2084454"/>
            <a:ext cx="2463588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6DB5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$495.71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729134" y="2579754"/>
            <a:ext cx="2463588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P/E median reference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539001"/>
            <a:ext cx="10883392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recommendation did not change; the evidence behind it did. The methods are </a:t>
            </a: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averaged</a:t>
            </a: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because their inputs and limitations differ. A more favorable call requires evidence that </a:t>
            </a: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AI-infrastructure capex can normalize</a:t>
            </a: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without impairing cloud growth, margins, or cash conversion.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A · FROZEN BASELINE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Edition A was a decision to research, not to invest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5175250" cy="4009430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1033" y="2084454"/>
            <a:ext cx="4805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decision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1033" y="2389254"/>
            <a:ext cx="4805087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an investment committee begin full fundamental valuation of Microsoft, and after that work, initiate an equity position?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1829395"/>
            <a:ext cx="5175250" cy="4009430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55833" y="2084454"/>
            <a:ext cx="4805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352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thesis: Watch / defer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55833" y="2389254"/>
            <a:ext cx="4805087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FY2026 showed cloud-led growth and a large contracted-revenue base, so Microsoft merited full valuation work.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55833" y="3294129"/>
            <a:ext cx="4805087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at the time: an intrinsic-value range, a market-price comparison, a normalized free-cash-flow forecast, and explicit analysis of AI-infrastructure capital intensity.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A · KNOWN FACTS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FY2026 baseline facts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2482850" cy="1300030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0233" y="2033654"/>
            <a:ext cx="21365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$331,839m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0233" y="2528954"/>
            <a:ext cx="2136563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Revenue, up 18% from FY2025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08375" y="1829395"/>
            <a:ext cx="2482850" cy="1300030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12633" y="2033654"/>
            <a:ext cx="21365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$155,237m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712633" y="2528954"/>
            <a:ext cx="2136563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income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0775" y="1829395"/>
            <a:ext cx="2482850" cy="1300030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5033" y="2033654"/>
            <a:ext cx="21365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$76,843m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5033" y="2528954"/>
            <a:ext cx="2136563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Cash and short-term investments, June 30, 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93175" y="1829395"/>
            <a:ext cx="2482850" cy="1300030"/>
          </a:xfrm>
          <a:prstGeom prst="roundRect">
            <a:avLst>
              <a:gd name="adj" fmla="val 7571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97434" y="2033654"/>
            <a:ext cx="21365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$40,294m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97434" y="2528954"/>
            <a:ext cx="2136563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debt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338976"/>
            <a:ext cx="2482850" cy="1466652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20233" y="3543235"/>
            <a:ext cx="21365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7,453m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020233" y="4038535"/>
            <a:ext cx="2136563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Diluted weighted-average shares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08375" y="3338976"/>
            <a:ext cx="2482850" cy="1466652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12633" y="3543235"/>
            <a:ext cx="21365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41%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712633" y="4038535"/>
            <a:ext cx="2136563" cy="421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and other cloud-services growth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0775" y="3338976"/>
            <a:ext cx="2482850" cy="1466652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5033" y="3543235"/>
            <a:ext cx="213656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$678bn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405033" y="4038535"/>
            <a:ext cx="2136563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RPO, up 84%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90000" y="3335801"/>
            <a:ext cx="2489200" cy="1473002"/>
          </a:xfrm>
          <a:prstGeom prst="roundRect">
            <a:avLst>
              <a:gd name="adj" fmla="val 6897"/>
            </a:avLst>
          </a:prstGeom>
          <a:solidFill>
            <a:srgbClr val="1D2B3A"/>
          </a:solidFill>
          <a:ln/>
        </p:spPr>
        <p:txBody>
          <a:bodyPr wrap="square" lIns="173442" tIns="160742" rIns="110958" bIns="160742" rtlCol="0" anchor="ctr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Microsoft FY2026 Form 10-K (income statement, balance sheet, Note 10, EPS note, Item 7 MD&amp;A)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D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89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CENTRAL UNRESOLVED QUESTION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76819"/>
            <a:ext cx="981075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0" i="0" dirty="0">
                <a:solidFill>
                  <a:srgbClr val="F6F4EF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Would AI-infrastructure spending absorb cash flow and pressure margins faster than cloud growth could create durable per-share value?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5156200"/>
            <a:ext cx="981075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6F4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research plan:</a:t>
            </a:r>
            <a:r>
              <a:rPr lang="en-US" sz="12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historical operating model · revenue-to-FCFF bridge · explicit revenue, margin and reinvestment assumptions · enterprise-to-equity bridge · peer comparison · reverse DCF · tests of cloud growth, margin and capital-intensity reversal conditions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3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B · WORK COMPLETED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Four workstreams completed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29395"/>
            <a:ext cx="5175250" cy="1531078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1033" y="2084456"/>
            <a:ext cx="4805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Five-year FCFF DCF and reverse DCF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71033" y="2389256"/>
            <a:ext cx="49170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$541.74 per diluted share; WACC 8.0%; terminal growth 3.5%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033" y="2678776"/>
            <a:ext cx="48050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explicit intrinsic value and the growth path implied by the comparison price.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0775" y="1829395"/>
            <a:ext cx="5175250" cy="1531078"/>
          </a:xfrm>
          <a:prstGeom prst="roundRect">
            <a:avLst>
              <a:gd name="adj" fmla="val 6428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55833" y="2084456"/>
            <a:ext cx="4805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Peer P/E comparison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55833" y="2389256"/>
            <a:ext cx="48050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$435.11–$556.30 range; $495.71 median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55833" y="2678776"/>
            <a:ext cx="48050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market cross-check using Oracle and qualified Alphabet comparability evidence.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3570024"/>
            <a:ext cx="5175250" cy="1744398"/>
          </a:xfrm>
          <a:prstGeom prst="roundRect">
            <a:avLst>
              <a:gd name="adj" fmla="val 5642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1033" y="3825081"/>
            <a:ext cx="4805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Five-year pro-forma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1033" y="4129881"/>
            <a:ext cx="48050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three-statement FCFE model with balance-sheet checks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1033" y="4632722"/>
            <a:ext cx="48050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cash-last model of revenue, margins, PP&amp;E, depreciation, cash and FCFE.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00775" y="3570024"/>
            <a:ext cx="5175250" cy="1744398"/>
          </a:xfrm>
          <a:prstGeom prst="roundRect">
            <a:avLst>
              <a:gd name="adj" fmla="val 5642"/>
            </a:avLst>
          </a:prstGeom>
          <a:solidFill>
            <a:srgbClr val="FFFFFF"/>
          </a:solidFill>
          <a:ln w="6350">
            <a:solidFill>
              <a:srgbClr val="D9E0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55833" y="3825081"/>
            <a:ext cx="48050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One-at-a-time sensitivity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5833" y="4129881"/>
            <a:ext cx="48050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growth moved operating profit most; capex intensity moved FCFE and value most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55833" y="4632722"/>
            <a:ext cx="480508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quantified test of the central AI-capex risk, not just a qualitative warning.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89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23"/>
              </a:lnSpc>
              <a:buNone/>
            </a:pPr>
            <a:r>
              <a:rPr lang="en-US" sz="945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B · VALUATION EVIDENCE</a:t>
            </a:r>
            <a:endParaRPr lang="en-US" sz="94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53573"/>
            <a:ext cx="10883392" cy="3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8"/>
              </a:lnSpc>
              <a:buNone/>
            </a:pPr>
            <a:r>
              <a:rPr lang="en-US" sz="2334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Three methods, each with its own limits</a:t>
            </a:r>
            <a:endParaRPr lang="en-US" sz="2334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94328"/>
          <a:ext cx="10553700" cy="3630612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278"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Method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 and date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Main limitation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7841"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FCFF DCF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$541.74 per share; Sep 10, 2026 calculation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Depends on FCFF growth, capex normalization, 8.0% WACC, 3.5% terminal growth, and cash/debt treatment.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7841"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Peer P/E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$435.11–$556.30; Sep 1, 2026 prices, annual GAAP EPS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Oracle and Alphabet have different business mixes and fiscal year-ends. Alphabet is advertising-dominant, so it is qualified rather than a direct peer.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7653"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Pro-forma FCFE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$238.72 per diluted share (Lab 11 base model)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13"/>
                        </a:lnSpc>
                        <a:buNone/>
                      </a:pPr>
                      <a:r>
                        <a:rPr lang="en-US" sz="129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Simplified model with a different cash-flow definition and discount-rate convention.</a:t>
                      </a:r>
                      <a:endParaRPr lang="en-US" sz="129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629740"/>
            <a:ext cx="10883392" cy="237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3"/>
              </a:lnSpc>
              <a:buNone/>
            </a:pPr>
            <a:r>
              <a:rPr lang="en-US" sz="1195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methods are </a:t>
            </a:r>
            <a:r>
              <a:rPr lang="en-US" sz="1195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averaged</a:t>
            </a:r>
            <a:r>
              <a:rPr lang="en-US" sz="1195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they use different inputs and answer different questions.</a:t>
            </a:r>
            <a:endParaRPr lang="en-US" sz="1195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EDITION B · KEY SENSITIVITY EVIDENCE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Capex intensity drives cash flow and value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38920"/>
          <a:ext cx="10553700" cy="2285736"/>
        </p:xfrm>
        <a:graphic>
          <a:graphicData uri="http://schemas.openxmlformats.org/drawingml/2006/table">
            <a:tbl>
              <a:tblPr/>
              <a:tblGrid>
                <a:gridCol w="263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4754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Output (FY2031E where applicable)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Revenue-growth span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AI/cloud-capex-intensity span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Larger driver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Operating profit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$48,015.6m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$0.0m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 growth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FCFE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$16,831.4m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$38,525.6m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Capex intensity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327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Value per diluted share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$21.12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$64.37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Capex intensity</a:t>
                      </a:r>
                      <a:endParaRPr lang="en-US" sz="16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29460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growth moves operating profit most; capex intensity moves FCFE and value most because it directly changes reinvestment.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528671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hold over the stated test ranges only. This is not a probability statement or a universal driver ranking.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7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A-TO-B CHANGE RECORD</a:t>
            </a:r>
            <a:endParaRPr lang="en-US" sz="105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71166"/>
            <a:ext cx="10883392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15"/>
              </a:lnSpc>
              <a:buNone/>
            </a:pPr>
            <a:r>
              <a:rPr lang="en-US" sz="2559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Same stance, much stronger basis</a:t>
            </a:r>
            <a:endParaRPr lang="en-US" sz="2559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46647"/>
          <a:ext cx="10553700" cy="4095353"/>
        </p:xfrm>
        <a:graphic>
          <a:graphicData uri="http://schemas.openxmlformats.org/drawingml/2006/table">
            <a:tbl>
              <a:tblPr/>
              <a:tblGrid>
                <a:gridCol w="35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877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Question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Edition A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Edition B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495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Investment stance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 / defer pending valuation work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 / defer, now conditional and valuation-informed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943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Intrinsic value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per-share value claimed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FCFF DCF: $541.74 per share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495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 cross-check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peer comparison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P/E: $435.11–$556.30; median $495.71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495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AI-infrastructure risk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Qualitative concern about capex, margin and cash conversion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Quantified: $64.37 value span over the capex-intensity ranges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6048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could reverse the view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Unspecified next-earnings evidence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Observable conditions: cloud growth, margin recovery, capex normalization, normalized peer comparison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121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DRIVER: COURSEWORK AND PERSONAL ANALYSIS</a:t>
            </a:r>
            <a:endParaRPr lang="en-US" sz="1121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2743"/>
            <a:ext cx="10883392" cy="405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22"/>
              </a:lnSpc>
              <a:buNone/>
            </a:pPr>
            <a:r>
              <a:rPr lang="en-US" sz="2747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Supporting tests</a:t>
            </a:r>
            <a:endParaRPr lang="en-US" sz="2747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0778"/>
          <a:ext cx="10553700" cy="4061222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453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 or evidence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8741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FY2026 Form 10-K and MD&amp;A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Supported the initial thesis and identified capex normalization as the key evidence question.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8741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DCF sensitivity and reverse DCF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DCF is sensitive to cash-flow recovery, discounting and terminal assumptions.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741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Peer P/E leave-one-out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Removing Alphabet left Oracle's $435.11 reference, $60.60 below the two-peer median.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741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Pro-forma accounting checks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Zero balance-sheet gaps and no revolver draw in the base and usable sensitivity scenarios.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8807"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Locked changed-input sensitivity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81"/>
                        </a:lnSpc>
                        <a:buNone/>
                      </a:pPr>
                      <a:r>
                        <a:rPr lang="en-US" sz="1415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Confirmed the capex range produces the larger FCFE and value span.</a:t>
                      </a:r>
                      <a:endParaRPr lang="en-US" sz="141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EE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CONCLUSION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Initiate only if the evidence lines 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26220"/>
            <a:ext cx="570808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A352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Initiate if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90270" y="2207220"/>
            <a:ext cx="5622995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Updated results support capex normalization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growth and margins stay consistent with the cash-flow path</a:t>
            </a:r>
            <a:endParaRPr lang="en-US" sz="1500" dirty="0"/>
          </a:p>
          <a:p>
            <a:pPr marL="176530" indent="-176530" algn="l">
              <a:lnSpc>
                <a:spcPts val="2175"/>
              </a:lnSpc>
              <a:buSzPct val="100000"/>
              <a:buChar char="•"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normalized enterprise-cloud peer comparison supports value above the market price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740745"/>
            <a:ext cx="5708085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Otherwise, continue to </a:t>
            </a: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/ defer</a:t>
            </a:r>
            <a:r>
              <a:rPr lang="en-US" sz="1500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1031" y="1826220"/>
            <a:ext cx="475671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next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1031" y="2207220"/>
            <a:ext cx="4618170" cy="869950"/>
          </a:xfrm>
          <a:prstGeom prst="roundRect">
            <a:avLst>
              <a:gd name="adj" fmla="val 8759"/>
            </a:avLst>
          </a:prstGeom>
          <a:solidFill>
            <a:srgbClr val="FFFFFF"/>
          </a:solidFill>
          <a:ln/>
        </p:spPr>
        <p:txBody>
          <a:bodyPr wrap="square" lIns="218982" tIns="155482" rIns="55672" bIns="13008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AI-infrastructure capex as a % of revenue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1031" y="2207220"/>
            <a:ext cx="4618170" cy="869950"/>
          </a:xfrm>
          <a:custGeom>
            <a:avLst/>
            <a:gdLst/>
            <a:ahLst/>
            <a:cxnLst/>
            <a:rect l="l" t="t" r="r" b="b"/>
            <a:pathLst>
              <a:path w="4618170" h="869950">
                <a:moveTo>
                  <a:pt x="76200" y="869950"/>
                </a:moveTo>
                <a:lnTo>
                  <a:pt x="76200" y="86995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793750"/>
                </a:lnTo>
                <a:arcTo wR="38100" hR="76200" stAng="10800000" swAng="-5400000"/>
                <a:close/>
              </a:path>
            </a:pathLst>
          </a:custGeom>
          <a:solidFill>
            <a:srgbClr val="2F6D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61031" y="3229570"/>
            <a:ext cx="4618170" cy="612775"/>
          </a:xfrm>
          <a:prstGeom prst="roundRect">
            <a:avLst>
              <a:gd name="adj" fmla="val 12435"/>
            </a:avLst>
          </a:prstGeom>
          <a:solidFill>
            <a:srgbClr val="FFFFFF"/>
          </a:solidFill>
          <a:ln/>
        </p:spPr>
        <p:txBody>
          <a:bodyPr wrap="square" lIns="218982" tIns="155482" rIns="55672" bIns="13008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growth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761031" y="3229570"/>
            <a:ext cx="4618170" cy="612775"/>
          </a:xfrm>
          <a:custGeom>
            <a:avLst/>
            <a:gdLst/>
            <a:ahLst/>
            <a:cxnLst/>
            <a:rect l="l" t="t" r="r" b="b"/>
            <a:pathLst>
              <a:path w="4618170" h="612775">
                <a:moveTo>
                  <a:pt x="76200" y="612775"/>
                </a:moveTo>
                <a:lnTo>
                  <a:pt x="76200" y="612775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36575"/>
                </a:lnTo>
                <a:arcTo wR="38100" hR="76200" stAng="10800000" swAng="-5400000"/>
                <a:close/>
              </a:path>
            </a:pathLst>
          </a:custGeom>
          <a:solidFill>
            <a:srgbClr val="2F6D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1031" y="3994745"/>
            <a:ext cx="4618170" cy="612775"/>
          </a:xfrm>
          <a:prstGeom prst="roundRect">
            <a:avLst>
              <a:gd name="adj" fmla="val 12435"/>
            </a:avLst>
          </a:prstGeom>
          <a:solidFill>
            <a:srgbClr val="FFFFFF"/>
          </a:solidFill>
          <a:ln/>
        </p:spPr>
        <p:txBody>
          <a:bodyPr wrap="square" lIns="218982" tIns="155482" rIns="55672" bIns="13008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1D2B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Cloud-margin recovery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61031" y="3994745"/>
            <a:ext cx="4618170" cy="612775"/>
          </a:xfrm>
          <a:custGeom>
            <a:avLst/>
            <a:gdLst/>
            <a:ahLst/>
            <a:cxnLst/>
            <a:rect l="l" t="t" r="r" b="b"/>
            <a:pathLst>
              <a:path w="4618170" h="612775">
                <a:moveTo>
                  <a:pt x="76200" y="612775"/>
                </a:moveTo>
                <a:lnTo>
                  <a:pt x="76200" y="612775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38100" hR="76200" stAng="16200000" swAng="-5400000"/>
                <a:lnTo>
                  <a:pt x="38100" y="536575"/>
                </a:lnTo>
                <a:arcTo wR="38100" hR="76200" stAng="10800000" swAng="-5400000"/>
                <a:close/>
              </a:path>
            </a:pathLst>
          </a:custGeom>
          <a:solidFill>
            <a:srgbClr val="2F6D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MSFT Research Evolution · Project 1  | 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2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0"/>
              </a:lnSpc>
              <a:buNone/>
            </a:pPr>
            <a:r>
              <a:rPr lang="en-US" sz="1121" b="1" kern="0" spc="150" dirty="0">
                <a:solidFill>
                  <a:srgbClr val="2F6D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REPRODUCIBILITY</a:t>
            </a:r>
            <a:endParaRPr lang="en-US" sz="1121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5652"/>
            <a:ext cx="10883392" cy="411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73"/>
              </a:lnSpc>
              <a:buNone/>
            </a:pPr>
            <a:r>
              <a:rPr lang="en-US" sz="2794" b="1" i="0" dirty="0">
                <a:solidFill>
                  <a:srgbClr val="1D2B3A"/>
                </a:solidFill>
                <a:latin typeface="Source Serif 4" pitchFamily="18" charset="0"/>
                <a:ea typeface="Source Serif 4" pitchFamily="18" charset="-122"/>
                <a:cs typeface="Source Serif 4" pitchFamily="18" charset="-120"/>
              </a:rPr>
              <a:t>Source and reproducibility index</a:t>
            </a:r>
            <a:endParaRPr lang="en-US" sz="2794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9578"/>
          <a:ext cx="10553700" cy="4052425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165"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Item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b="1" dirty="0">
                          <a:solidFill>
                            <a:srgbClr val="F6F4E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Location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165"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Edition A source (frozen in commit 861e227)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research/reports/2026-09-01-initial-research.md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165"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Reverse-DCF report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research/reports/2026-09-10-msft-reverse-dcf.md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Peer-P/E triangulation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research/reports/2026-09-17-msft-pe-triangulation-lab.md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Pro-forma assumptions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research/reports/2026-09-24-lab-10-msft-history-and-assumptions.md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66"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Sensitivity output and validation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research/lab-11-sensitivity/lab-11-submission.md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research/lab-11-sensitivity/validation-check.md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165"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Primary filing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002"/>
                        </a:lnSpc>
                        <a:buNone/>
                      </a:pPr>
                      <a:r>
                        <a:rPr lang="en-US" sz="1430" dirty="0">
                          <a:solidFill>
                            <a:srgbClr val="1D2B3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sources/filings/MSFT-FY2026-10-K.pdf</a:t>
                      </a:r>
                      <a:endParaRPr lang="en-US" sz="143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1600" marB="101600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coursework only. This document does not provide investment advice.  | 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Evolution: Microsoft (MSFT)">
  <a:themeElements>
    <a:clrScheme name="Research Evolution: Microsoft (MSFT)">
      <a:dk1>
        <a:srgbClr val="1D2B3A"/>
      </a:dk1>
      <a:lt1>
        <a:srgbClr val="F6F4EF"/>
      </a:lt1>
      <a:dk2>
        <a:srgbClr val="535D67"/>
      </a:dk2>
      <a:lt2>
        <a:srgbClr val="E0E0DD"/>
      </a:lt2>
      <a:accent1>
        <a:srgbClr val="2F6DB5"/>
      </a:accent1>
      <a:accent2>
        <a:srgbClr val="E8954F"/>
      </a:accent2>
      <a:accent3>
        <a:srgbClr val="A3521A"/>
      </a:accent3>
      <a:accent4>
        <a:srgbClr val="5B6673"/>
      </a:accent4>
      <a:accent5>
        <a:srgbClr val="C9D3DF"/>
      </a:accent5>
      <a:accent6>
        <a:srgbClr val="9AA0A6"/>
      </a:accent6>
      <a:hlink>
        <a:srgbClr val="0563C1"/>
      </a:hlink>
      <a:folHlink>
        <a:srgbClr val="954F72"/>
      </a:folHlink>
    </a:clrScheme>
    <a:fontScheme name="Research Evolution: Microsoft (MSFT)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1434</Words>
  <Application>Microsoft Office PowerPoint</Application>
  <PresentationFormat>Widescreen</PresentationFormat>
  <Paragraphs>183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Inter</vt:lpstr>
      <vt:lpstr>Source Serif 4</vt:lpstr>
      <vt:lpstr>Research Evolution: Microsoft (MSFT)</vt:lpstr>
      <vt:lpstr>Microsoft Corporation (MSFT)</vt:lpstr>
      <vt:lpstr>Watch / defer, now backed by valuation evidence</vt:lpstr>
      <vt:lpstr>Edition A was a decision to research, not to invest</vt:lpstr>
      <vt:lpstr>FY2026 baseline facts</vt:lpstr>
      <vt:lpstr>Would AI-infrastructure spending absorb cash flow and pressure margins faster than cloud growth could create durable per-share value?</vt:lpstr>
      <vt:lpstr>Four workstreams completed</vt:lpstr>
      <vt:lpstr>Three methods, each with its own limits</vt:lpstr>
      <vt:lpstr>Capex intensity drives cash flow and value</vt:lpstr>
      <vt:lpstr>Same stance, much stronger basis</vt:lpstr>
      <vt:lpstr>Supporting tests</vt:lpstr>
      <vt:lpstr>Initiate only if the evidence lines up</vt:lpstr>
      <vt:lpstr>Source and reproducibility 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Evolution: Microsoft (MSFT)</dc:title>
  <dc:subject/>
  <dc:creator>Chase Racette</dc:creator>
  <cp:lastModifiedBy>Chase Racette</cp:lastModifiedBy>
  <cp:revision>1</cp:revision>
  <dcterms:created xsi:type="dcterms:W3CDTF">2026-10-20T00:37:24Z</dcterms:created>
  <dcterms:modified xsi:type="dcterms:W3CDTF">2026-10-20T00:38:05Z</dcterms:modified>
</cp:coreProperties>
</file>